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743200"/>
            <a:ext cx="10972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0"/>
            <a:ext cx="110642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Calibri"/>
              </a:defRPr>
            </a:pPr>
            <a:r>
              <a:t>Studio Legale AI</a:t>
            </a:r>
          </a:p>
          <a:p>
            <a:pPr>
              <a:spcBef>
                <a:spcPts val="1000"/>
              </a:spcBef>
              <a:defRPr sz="2800">
                <a:solidFill>
                  <a:srgbClr val="9CA3AF"/>
                </a:solidFill>
                <a:latin typeface="Calibri"/>
              </a:defRPr>
            </a:pPr>
            <a:r>
              <a:t>On-premise legal AI for Italian law firms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8463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F59E0B"/>
                </a:solidFill>
                <a:latin typeface="Calibri"/>
              </a:defRPr>
            </a:pPr>
            <a:r>
              <a:t>Rome Bar Association Convention — September 2026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Privacy by design · Data sovereignty · Italian &amp; EU legal focus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Studio Legale AI — Powered by GeneForge AI Labs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1/20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problem with legal AI today</a:t>
            </a:r>
          </a:p>
          <a:p>
            <a:pPr>
              <a:spcBef>
                <a:spcPts val="600"/>
              </a:spcBef>
              <a:defRPr sz="1800">
                <a:solidFill>
                  <a:srgbClr val="9CA3AF"/>
                </a:solidFill>
                <a:latin typeface="Calibri"/>
              </a:defRPr>
            </a:pPr>
            <a:r>
              <a:t>Why Italian lawyers are reluctant to adopt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0352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spcAft>
                <a:spcPts val="800"/>
              </a:spcAft>
              <a:defRPr sz="1800" b="1">
                <a:solidFill>
                  <a:srgbClr val="F59E0B"/>
                </a:solidFill>
                <a:latin typeface="Calibri"/>
              </a:defRPr>
            </a:pPr>
            <a:r>
              <a:t>❌ Traditional cloud legal AI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Client and case data end up on third-party cloud servers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Professional secrecy is hard to guarantee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Fragmented tools: research, drafting, practice management, PEC, calendar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Generic AI with little specialization in Italian law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Per-user pricing that grows with the team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30352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spcAft>
                <a:spcPts val="800"/>
              </a:spcAft>
              <a:defRPr sz="1800" b="1">
                <a:solidFill>
                  <a:srgbClr val="F59E0B"/>
                </a:solidFill>
                <a:latin typeface="Calibri"/>
              </a:defRPr>
            </a:pPr>
            <a:r>
              <a:t>✅ The on-premise answer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Acts and case files stay physically in the firm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The Bar is data controller, not the vendor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One environment for research, drafting and practice management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Agents specialized in Italian, European and Cassation law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Flat monthly fee, not per 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Studio Legale AI — Powered by GeneForge AI Labs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2/20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Studio Legale AI</a:t>
            </a:r>
          </a:p>
          <a:p>
            <a:pPr>
              <a:spcBef>
                <a:spcPts val="600"/>
              </a:spcBef>
              <a:defRPr sz="1800">
                <a:solidFill>
                  <a:srgbClr val="9CA3AF"/>
                </a:solidFill>
                <a:latin typeface="Calibri"/>
              </a:defRPr>
            </a:pPr>
            <a:r>
              <a:t>A full-stack platform for Italian law firms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106424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Local NVIDIA DGX Spark hardware: 128 GB unified memory, Blackwell GPU, offline-capable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10 specialized AI agents for civil, criminal, administrative, tax, labour, European, Cassation, opinions, acts and governance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Italian + European legal form library with 610+ ready-to-use modules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Multi-engine research on Normattiva, EUR-Lex, CURIA, ECHR, doctrine, administrative justice and Italian databases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Local RAG indexing up to 100,000 firm documents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Professional export to PDF, DOCX and Markdown with automatic header and protocol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Forensic calculator for court fees, interest, lawyer fees and expenses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Studio Legale AI — Powered by GeneForge AI Labs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3/20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Local hardware: NVIDIA DGX Spark</a:t>
            </a:r>
          </a:p>
          <a:p>
            <a:pPr>
              <a:spcBef>
                <a:spcPts val="600"/>
              </a:spcBef>
              <a:defRPr sz="1800">
                <a:solidFill>
                  <a:srgbClr val="9CA3AF"/>
                </a:solidFill>
                <a:latin typeface="Calibri"/>
              </a:defRPr>
            </a:pPr>
            <a:r>
              <a:t>An AI supercomputer inside the firm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48640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spcAft>
                <a:spcPts val="800"/>
              </a:spcAft>
              <a:defRPr sz="1800" b="1">
                <a:solidFill>
                  <a:srgbClr val="F59E0B"/>
                </a:solidFill>
                <a:latin typeface="Calibri"/>
              </a:defRPr>
            </a:pPr>
            <a:r>
              <a:t>Technical specs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NVIDIA GB10 Grace Blackwell GPU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6,144 CUDA cores, 48 SMs, sm_120/121 compute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128 GB LPDDR5X unified memory (CPU+GPU)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4 TB NVMe SSD (8 TB option)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Quiet: &lt; 35 dB in normal operation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Plug &amp; play setup in 30 minutes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30352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spcAft>
                <a:spcPts val="800"/>
              </a:spcAft>
              <a:defRPr sz="1800" b="1">
                <a:solidFill>
                  <a:srgbClr val="F59E0B"/>
                </a:solidFill>
                <a:latin typeface="Calibri"/>
              </a:defRPr>
            </a:pPr>
            <a:r>
              <a:t>Security &amp; compliance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No data in the cloud by default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LUKS AES-256 disk encryption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TLS 1.3 on all communications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Immutable and exportable audit log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Nightly local NAS backup (Enterprise)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GDPR, AI Act and professional-secrecy ready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Studio Legale AI — Powered by GeneForge AI Labs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4/20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10 specialized AI agents</a:t>
            </a:r>
          </a:p>
          <a:p>
            <a:pPr>
              <a:spcBef>
                <a:spcPts val="600"/>
              </a:spcBef>
              <a:defRPr sz="1800">
                <a:solidFill>
                  <a:srgbClr val="9CA3AF"/>
                </a:solidFill>
                <a:latin typeface="Calibri"/>
              </a:defRPr>
            </a:pPr>
            <a:r>
              <a:t>The right expert for every task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5394960" cy="71323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⚖️ General Lawyer</a:t>
            </a:r>
          </a:p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  <a:r>
              <a:t>Quick questions and orientation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17320"/>
            <a:ext cx="5394960" cy="71323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📜 Contract Analyst</a:t>
            </a:r>
          </a:p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  <a:r>
              <a:t>Contract analysis and 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5394960" cy="71323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🔍 Legal Researcher</a:t>
            </a:r>
          </a:p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  <a:r>
              <a:t>Legislation, case law, doctrine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286000"/>
            <a:ext cx="5394960" cy="71323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🏛️ Cassation Researcher</a:t>
            </a:r>
          </a:p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  <a:r>
              <a:t>Supreme Court judgment verification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154680"/>
            <a:ext cx="5394960" cy="71323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📄 Legal Drafter</a:t>
            </a:r>
          </a:p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  <a:r>
              <a:t>Generation of 11 document types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154680"/>
            <a:ext cx="5394960" cy="71323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📋 Legal Secretary</a:t>
            </a:r>
          </a:p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  <a:r>
              <a:t>Notes, reminders, solicitations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023359"/>
            <a:ext cx="5394960" cy="71323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📖 Legal Opinion Specialist</a:t>
            </a:r>
          </a:p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  <a:r>
              <a:t>Structured legal opinions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23359"/>
            <a:ext cx="5394960" cy="71323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🇪🇺 EU Law Specialist</a:t>
            </a:r>
          </a:p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  <a:r>
              <a:t>European Union law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5394960" cy="71323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🛡️ Legal Validator</a:t>
            </a:r>
          </a:p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  <a:r>
              <a:t>Formal checks on legal acts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892040"/>
            <a:ext cx="5394960" cy="71323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🎯 Owner Orchestrator</a:t>
            </a:r>
          </a:p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  <a:r>
              <a:t>Governance and owner advisory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Studio Legale AI — Powered by GeneForge AI Labs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5/20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Complete firm management</a:t>
            </a:r>
          </a:p>
          <a:p>
            <a:pPr>
              <a:spcBef>
                <a:spcPts val="600"/>
              </a:spcBef>
              <a:defRPr sz="1800">
                <a:solidFill>
                  <a:srgbClr val="9CA3AF"/>
                </a:solidFill>
                <a:latin typeface="Calibri"/>
              </a:defRPr>
            </a:pPr>
            <a:r>
              <a:t>From dashboard to calendar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539496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📊 Dashboard</a:t>
            </a:r>
          </a:p>
          <a:p>
            <a:pPr>
              <a:defRPr sz="1400">
                <a:solidFill>
                  <a:srgbClr val="FFFFFF"/>
                </a:solidFill>
                <a:latin typeface="Calibri"/>
              </a:defRPr>
            </a:pPr>
            <a:r>
              <a:t>Real-time counters, chat with General Lawyer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17320"/>
            <a:ext cx="539496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👥 Clients</a:t>
            </a:r>
          </a:p>
          <a:p>
            <a:pPr>
              <a:defRPr sz="1400">
                <a:solidFill>
                  <a:srgbClr val="FFFFFF"/>
                </a:solidFill>
                <a:latin typeface="Calibri"/>
              </a:defRPr>
            </a:pPr>
            <a:r>
              <a:t>Full registry with warnings and linked cases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51760"/>
            <a:ext cx="539496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📁 Cases</a:t>
            </a:r>
          </a:p>
          <a:p>
            <a:pPr>
              <a:defRPr sz="1400">
                <a:solidFill>
                  <a:srgbClr val="FFFFFF"/>
                </a:solidFill>
                <a:latin typeface="Calibri"/>
              </a:defRPr>
            </a:pPr>
            <a:r>
              <a:t>Statuses, deadlines, documents and advanced filters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651760"/>
            <a:ext cx="539496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📄 Documents</a:t>
            </a:r>
          </a:p>
          <a:p>
            <a:pPr>
              <a:defRPr sz="1400">
                <a:solidFill>
                  <a:srgbClr val="FFFFFF"/>
                </a:solidFill>
                <a:latin typeface="Calibri"/>
              </a:defRPr>
            </a:pPr>
            <a:r>
              <a:t>Guided generation of 11 document types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886200"/>
            <a:ext cx="539496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🔍 Research</a:t>
            </a:r>
          </a:p>
          <a:p>
            <a:pPr>
              <a:defRPr sz="1400">
                <a:solidFill>
                  <a:srgbClr val="FFFFFF"/>
                </a:solidFill>
                <a:latin typeface="Calibri"/>
              </a:defRPr>
            </a:pPr>
            <a:r>
              <a:t>7 research engines on Italian and EU sources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886200"/>
            <a:ext cx="539496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⚖️ Opinions</a:t>
            </a:r>
          </a:p>
          <a:p>
            <a:pPr>
              <a:defRPr sz="1400">
                <a:solidFill>
                  <a:srgbClr val="FFFFFF"/>
                </a:solidFill>
                <a:latin typeface="Calibri"/>
              </a:defRPr>
            </a:pPr>
            <a:r>
              <a:t>Reasoned answers: question, rule, analysis, risks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120640"/>
            <a:ext cx="539496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📅 Calendar</a:t>
            </a:r>
          </a:p>
          <a:p>
            <a:pPr>
              <a:defRPr sz="1400">
                <a:solidFill>
                  <a:srgbClr val="FFFFFF"/>
                </a:solidFill>
                <a:latin typeface="Calibri"/>
              </a:defRPr>
            </a:pPr>
            <a:r>
              <a:t>Hearings, deadlines, automatic reminders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5120640"/>
            <a:ext cx="539496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🧮 Calculator</a:t>
            </a:r>
          </a:p>
          <a:p>
            <a:pPr>
              <a:defRPr sz="1400">
                <a:solidFill>
                  <a:srgbClr val="FFFFFF"/>
                </a:solidFill>
                <a:latin typeface="Calibri"/>
              </a:defRPr>
            </a:pPr>
            <a:r>
              <a:t>Court fees, interest, lawyer fees, expenses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Studio Legale AI — Powered by GeneForge AI Labs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6/20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Legal document generation</a:t>
            </a:r>
          </a:p>
          <a:p>
            <a:pPr>
              <a:spcBef>
                <a:spcPts val="600"/>
              </a:spcBef>
              <a:defRPr sz="1800">
                <a:solidFill>
                  <a:srgbClr val="9CA3AF"/>
                </a:solidFill>
                <a:latin typeface="Calibri"/>
              </a:defRPr>
            </a:pPr>
            <a:r>
              <a:t>Professional drafts in 2–3 minutes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48640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spcAft>
                <a:spcPts val="800"/>
              </a:spcAft>
              <a:defRPr sz="1800" b="1">
                <a:solidFill>
                  <a:srgbClr val="F59E0B"/>
                </a:solidFill>
                <a:latin typeface="Calibri"/>
              </a:defRPr>
            </a:pPr>
            <a:r>
              <a:t>11 document types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Formal letter and default notice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Civil summons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Defence memorandum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Administrative / tax appeal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Written legal opinion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Legal assistance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30352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spcAft>
                <a:spcPts val="800"/>
              </a:spcAft>
              <a:defRPr sz="1800" b="1">
                <a:solidFill>
                  <a:srgbClr val="F59E0B"/>
                </a:solidFill>
                <a:latin typeface="Calibri"/>
              </a:defRPr>
            </a:pPr>
            <a:r>
              <a:t>Quality &amp; control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Automatic pre-legal research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Cassation citation verification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Header, power of attorney and signature pre-filled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AI drafts only the legal body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Automatic link to client and case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Automatic protocol (e.g. 2026/001)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Studio Legale AI — Powered by GeneForge AI Labs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7/20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Legal forms library</a:t>
            </a:r>
          </a:p>
          <a:p>
            <a:pPr>
              <a:spcBef>
                <a:spcPts val="600"/>
              </a:spcBef>
              <a:defRPr sz="1800">
                <a:solidFill>
                  <a:srgbClr val="9CA3AF"/>
                </a:solidFill>
                <a:latin typeface="Calibri"/>
              </a:defRPr>
            </a:pPr>
            <a:r>
              <a:t>610+ ready-to-use modules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106424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Civil: summons, memoranda, motions, injunctions, oppositions, appeals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Criminal: complaints, civil-party appearance, motions, Cassation appeals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Administrative: TAR appeals, observations, Council of State memoranda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Tax: tax-commission appeals, memoranda, oppositions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Labour: default notices, appeals, settlements, dismissal letters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European: 60 modules for CJEU appeals, preliminary rulings, infringement complaints, ECHR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Each module includes operational notes, legal references and checklists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Studio Legale AI — Powered by GeneForge AI Labs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8/20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🇪🇺 New: European Law branch</a:t>
            </a:r>
          </a:p>
          <a:p>
            <a:pPr>
              <a:spcBef>
                <a:spcPts val="600"/>
              </a:spcBef>
              <a:defRPr sz="1800">
                <a:solidFill>
                  <a:srgbClr val="9CA3AF"/>
                </a:solidFill>
                <a:latin typeface="Calibri"/>
              </a:defRPr>
            </a:pPr>
            <a:r>
              <a:t>The only Italian competitor with procedural EU specialization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48640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spcAft>
                <a:spcPts val="800"/>
              </a:spcAft>
              <a:defRPr sz="1800" b="1">
                <a:solidFill>
                  <a:srgbClr val="F59E0B"/>
                </a:solidFill>
                <a:latin typeface="Calibri"/>
              </a:defRPr>
            </a:pPr>
            <a:r>
              <a:t>What it includes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60 EU modules for appeals, preliminary rulings, infringement complaints, ECHR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4 EU document types (Art. 263, 267, 258 TFEU, EU Opinion)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Dedicated EU Law Specialist agent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EUR-Lex, CURIA/CJEU, ECHR research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30352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spcAft>
                <a:spcPts val="800"/>
              </a:spcAft>
              <a:defRPr sz="1800" b="1">
                <a:solidFill>
                  <a:srgbClr val="F59E0B"/>
                </a:solidFill>
                <a:latin typeface="Calibri"/>
              </a:defRPr>
            </a:pPr>
            <a:r>
              <a:t>Advantages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Fast CJEU tools: case validation, deadlines, procedural dates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Standalone EU Validator, separate from Italian checks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References to TEU, TFEU, ECHR where appropriate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On-premise: no case data in the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Studio Legale AI — Powered by GeneForge AI Labs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9/20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Multi-engine legal research</a:t>
            </a:r>
          </a:p>
          <a:p>
            <a:pPr>
              <a:spcBef>
                <a:spcPts val="600"/>
              </a:spcBef>
              <a:defRPr sz="1800">
                <a:solidFill>
                  <a:srgbClr val="9CA3AF"/>
                </a:solidFill>
                <a:latin typeface="Calibri"/>
              </a:defRPr>
            </a:pPr>
            <a:r>
              <a:t>Italian and EU sources in one query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539496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700" b="1">
                <a:solidFill>
                  <a:srgbClr val="F59E0B"/>
                </a:solidFill>
                <a:latin typeface="Calibri"/>
              </a:defRPr>
            </a:pPr>
            <a:r>
              <a:t>🔍 Normattiva</a:t>
            </a:r>
          </a:p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  <a:r>
              <a:t>Italian laws, decrees, regulations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17320"/>
            <a:ext cx="539496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700" b="1">
                <a:solidFill>
                  <a:srgbClr val="F59E0B"/>
                </a:solidFill>
                <a:latin typeface="Calibri"/>
              </a:defRPr>
            </a:pPr>
            <a:r>
              <a:t>🔍 Administrative Justice</a:t>
            </a:r>
          </a:p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  <a:r>
              <a:t>TAR and Council of State rulings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51760"/>
            <a:ext cx="539496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700" b="1">
                <a:solidFill>
                  <a:srgbClr val="F59E0B"/>
                </a:solidFill>
                <a:latin typeface="Calibri"/>
              </a:defRPr>
            </a:pPr>
            <a:r>
              <a:t>🔍 ECtHR</a:t>
            </a:r>
          </a:p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  <a:r>
              <a:t>European Court of Human Rights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651760"/>
            <a:ext cx="539496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700" b="1">
                <a:solidFill>
                  <a:srgbClr val="F59E0B"/>
                </a:solidFill>
                <a:latin typeface="Calibri"/>
              </a:defRPr>
            </a:pPr>
            <a:r>
              <a:t>🔍 EUR-Lex</a:t>
            </a:r>
          </a:p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  <a:r>
              <a:t>EU directives, regulations, decisions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886200"/>
            <a:ext cx="539496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700" b="1">
                <a:solidFill>
                  <a:srgbClr val="F59E0B"/>
                </a:solidFill>
                <a:latin typeface="Calibri"/>
              </a:defRPr>
            </a:pPr>
            <a:r>
              <a:t>🔍 CURIA / CJEU</a:t>
            </a:r>
          </a:p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  <a:r>
              <a:t>Court of Justice of the EU rulings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886200"/>
            <a:ext cx="539496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700" b="1">
                <a:solidFill>
                  <a:srgbClr val="F59E0B"/>
                </a:solidFill>
                <a:latin typeface="Calibri"/>
              </a:defRPr>
            </a:pPr>
            <a:r>
              <a:t>🔍 Doctrine</a:t>
            </a:r>
          </a:p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  <a:r>
              <a:t>Scientific articles and journals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120640"/>
            <a:ext cx="539496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700" b="1">
                <a:solidFill>
                  <a:srgbClr val="F59E0B"/>
                </a:solidFill>
                <a:latin typeface="Calibri"/>
              </a:defRPr>
            </a:pPr>
            <a:r>
              <a:t>🔍 Italian Databases</a:t>
            </a:r>
          </a:p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  <a:r>
              <a:t>ItalgiureWeb Cassa Forense + publisher placeholders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Studio Legale AI — Powered by GeneForge AI Labs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10/20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Connectors &amp; integrations</a:t>
            </a:r>
          </a:p>
          <a:p>
            <a:pPr>
              <a:spcBef>
                <a:spcPts val="600"/>
              </a:spcBef>
              <a:defRPr sz="1800">
                <a:solidFill>
                  <a:srgbClr val="9CA3AF"/>
                </a:solidFill>
                <a:latin typeface="Calibri"/>
              </a:defRPr>
            </a:pPr>
            <a:r>
              <a:t>Link what you already use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48640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spcAft>
                <a:spcPts val="800"/>
              </a:spcAft>
              <a:defRPr sz="1800" b="1">
                <a:solidFill>
                  <a:srgbClr val="F59E0B"/>
                </a:solidFill>
                <a:latin typeface="Calibri"/>
              </a:defRPr>
            </a:pPr>
            <a:r>
              <a:t>Italian legal databases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ItalgiureWeb (Cassa Forense): active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De Jure, One Legale, Dike, Eurex, Juris Data: placeholders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Fallback to quick links if automation fails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30352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spcAft>
                <a:spcPts val="800"/>
              </a:spcAft>
              <a:defRPr sz="1800" b="1">
                <a:solidFill>
                  <a:srgbClr val="F59E0B"/>
                </a:solidFill>
                <a:latin typeface="Calibri"/>
              </a:defRPr>
            </a:pPr>
            <a:r>
              <a:t>Practice tools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AvvoDesk, LexDoctor, Legal360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iManage Work, NetDocuments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Clio Manage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Certified email and e-filing placeholders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Microsoft Word add-in (roadmap)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Studio Legale AI — Powered by GeneForge AI Labs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11/20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🧮 Forensic Calculator</a:t>
            </a:r>
          </a:p>
          <a:p>
            <a:pPr>
              <a:spcBef>
                <a:spcPts val="600"/>
              </a:spcBef>
              <a:defRPr sz="1800">
                <a:solidFill>
                  <a:srgbClr val="9CA3AF"/>
                </a:solidFill>
                <a:latin typeface="Calibri"/>
              </a:defRPr>
            </a:pPr>
            <a:r>
              <a:t>Fast and reliable legal calculations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106424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Civil and administrative unified court fees for first instance, appeal and Cassation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Legal, default and historical interest with updated rates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Indicative lawyer fees under D.M. 55/2014 parameters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Justice expenses: service of process, expert opinions, technical consultants, court fees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Monetary revaluation via indicative ISTAT FOI indices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All amounts are indicative and include legal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Studio Legale AI — Powered by GeneForge AI Labs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12/20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Professional export</a:t>
            </a:r>
          </a:p>
          <a:p>
            <a:pPr>
              <a:spcBef>
                <a:spcPts val="600"/>
              </a:spcBef>
              <a:defRPr sz="1800">
                <a:solidFill>
                  <a:srgbClr val="9CA3AF"/>
                </a:solidFill>
                <a:latin typeface="Calibri"/>
              </a:defRPr>
            </a:pPr>
            <a:r>
              <a:t>PDF, DOCX and Markdown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48640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spcAft>
                <a:spcPts val="800"/>
              </a:spcAft>
              <a:defRPr sz="1800" b="1">
                <a:solidFill>
                  <a:srgbClr val="F59E0B"/>
                </a:solidFill>
                <a:latin typeface="Calibri"/>
              </a:defRPr>
            </a:pPr>
            <a:r>
              <a:t>PDF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Law firm and lawyer header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Power of attorney for procedural acts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Signature block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Automatic protocol number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30352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spcAft>
                <a:spcPts val="800"/>
              </a:spcAft>
              <a:defRPr sz="1800" b="1">
                <a:solidFill>
                  <a:srgbClr val="F59E0B"/>
                </a:solidFill>
                <a:latin typeface="Calibri"/>
              </a:defRPr>
            </a:pPr>
            <a:r>
              <a:t>DOCX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Times New Roman 12 pt font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Native Word styles (Heading 1, 2, 3)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Auto-updatable table of contents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Tables, lists, document metadata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Studio Legale AI — Powered by GeneForge AI Labs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13/20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Competitive comparison</a:t>
            </a:r>
          </a:p>
          <a:p>
            <a:pPr>
              <a:spcBef>
                <a:spcPts val="600"/>
              </a:spcBef>
              <a:defRPr sz="1800">
                <a:solidFill>
                  <a:srgbClr val="9CA3AF"/>
                </a:solidFill>
                <a:latin typeface="Calibri"/>
              </a:defRPr>
            </a:pPr>
            <a:r>
              <a:t>Why choose on-premise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718457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59E0B"/>
                          </a:solidFill>
                          <a:latin typeface="Calibri"/>
                        </a:defRPr>
                      </a:pPr>
                      <a:r>
                        <a:t>Solution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59E0B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59E0B"/>
                          </a:solidFill>
                          <a:latin typeface="Calibri"/>
                        </a:defRPr>
                      </a:pPr>
                      <a:r>
                        <a:t>Focus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59E0B"/>
                          </a:solidFill>
                          <a:latin typeface="Calibri"/>
                        </a:defRPr>
                      </a:pPr>
                      <a:r>
                        <a:t>Price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Studio Legale AI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On-premise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Full Italian/EU stack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€500–2,500 flat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Lexroom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Cloud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Research &amp; drafting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~€80/user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Simpliciter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Cloud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Assisted research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€19–39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Aptus.AI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Cloud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Compliance &amp; regs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€199–1,040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AvvoDesk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Cloud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Practice management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On request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Legal databases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Cloud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Case law &amp; comment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€300–3,000+/yr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Studio Legale AI — Powered by GeneForge AI Labs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14/20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Competitive advantages</a:t>
            </a:r>
          </a:p>
          <a:p>
            <a:pPr>
              <a:spcBef>
                <a:spcPts val="600"/>
              </a:spcBef>
              <a:defRPr sz="1800">
                <a:solidFill>
                  <a:srgbClr val="9CA3AF"/>
                </a:solidFill>
                <a:latin typeface="Calibri"/>
              </a:defRPr>
            </a:pPr>
            <a:r>
              <a:t>What no cloud competitor can offer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106424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Only complete on-premise legal AI platform in Italy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Native procedural EU law: 60 EU modules, EUR-Lex/CURIA/ECHR research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Flat fee, not per user: cost per lawyer drops as the team grows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Compliance by design: GDPR, AI Act, professional secrecy, immutable audit log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Unified stack: research + drafting + RAG + practice management + calendar + email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Integrated Italian legal databases with quick-link fallback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10 specialized agents with task-optimized temperature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Studio Legale AI — Powered by GeneForge AI Labs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15/20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Packages</a:t>
            </a:r>
          </a:p>
          <a:p>
            <a:pPr>
              <a:spcBef>
                <a:spcPts val="600"/>
              </a:spcBef>
              <a:defRPr sz="1800">
                <a:solidFill>
                  <a:srgbClr val="9CA3AF"/>
                </a:solidFill>
                <a:latin typeface="Calibri"/>
              </a:defRPr>
            </a:pPr>
            <a:r>
              <a:t>Flat monthly fee, no hidden costs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5588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59E0B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59E0B"/>
                          </a:solidFill>
                          <a:latin typeface="Calibri"/>
                        </a:defRPr>
                      </a:pPr>
                      <a:r>
                        <a:t>BASE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59E0B"/>
                          </a:solidFill>
                          <a:latin typeface="Calibri"/>
                        </a:defRPr>
                      </a:pPr>
                      <a:r>
                        <a:t>PROFESSIONAL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59E0B"/>
                          </a:solidFill>
                          <a:latin typeface="Calibri"/>
                        </a:defRPr>
                      </a:pPr>
                      <a:r>
                        <a:t>ENTERPRISE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Solo lawyer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Firm 3–10 lawyers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Firm/Network 10+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Agents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7 standard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7 + 1 custom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7 + 3 custom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Documents/month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200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Unlimited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Nemotron research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Unlimited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Archive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1,000 docs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Unlimited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Unlimited + sync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Support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Email 24h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Email+phone 8h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4h + account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Monthly fee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€ 500 + VAT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€ 1,000 + VAT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€ 2,500 + VAT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Setup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€ 990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€ 990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€ 1,990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Studio Legale AI — Powered by GeneForge AI Labs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16/20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Estimated ROI</a:t>
            </a:r>
          </a:p>
          <a:p>
            <a:pPr>
              <a:spcBef>
                <a:spcPts val="600"/>
              </a:spcBef>
              <a:defRPr sz="1800">
                <a:solidFill>
                  <a:srgbClr val="9CA3AF"/>
                </a:solidFill>
                <a:latin typeface="Calibri"/>
              </a:defRPr>
            </a:pPr>
            <a:r>
              <a:t>Investment pays back in 1–2 months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48640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spcAft>
                <a:spcPts val="800"/>
              </a:spcAft>
              <a:defRPr sz="1800" b="1">
                <a:solidFill>
                  <a:srgbClr val="F59E0B"/>
                </a:solidFill>
                <a:latin typeface="Calibri"/>
              </a:defRPr>
            </a:pPr>
            <a:r>
              <a:t>Operational efficiency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Drafting time saved: 60–70%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Research time saved: 50–60%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Formal errors reduced: 80%+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Average document generation: 2–3 minutes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30352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spcAft>
                <a:spcPts val="800"/>
              </a:spcAft>
              <a:defRPr sz="1800" b="1">
                <a:solidFill>
                  <a:srgbClr val="F59E0B"/>
                </a:solidFill>
                <a:latin typeface="Calibri"/>
              </a:defRPr>
            </a:pPr>
            <a:r>
              <a:t>Economics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Average lawyer hourly rate: €150–250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Payback: 1–2 months for a firm with 3+ lawyers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With 5 Pro users: ~€100/user/month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With 10 Pro users: ~€50/user/month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Studio Legale AI — Powered by GeneForge AI Labs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17/20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Roadmap</a:t>
            </a:r>
          </a:p>
          <a:p>
            <a:pPr>
              <a:spcBef>
                <a:spcPts val="600"/>
              </a:spcBef>
              <a:defRPr sz="1800">
                <a:solidFill>
                  <a:srgbClr val="9CA3AF"/>
                </a:solidFill>
                <a:latin typeface="Calibri"/>
              </a:defRPr>
            </a:pPr>
            <a:r>
              <a:t>What’s coming next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106424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Q3 2026 — Microsoft Word add-in for drafting directly in Word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Q3–Q4 2026 — Certified email and e-filing module (civil PCT, UNEP)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Q4 2026 — Publisher database connectors (De Jure, One Legale, Dike)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Q4 2026 — Practice-management integrations (AvvoDesk, LexDoctor, Legal360, iManage, NetDocuments)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2027 — Voice assistant for phone intake and secretary tasks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Ongoing — Model updates, new form modules, expansion of EU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Studio Legale AI — Powered by GeneForge AI Labs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18/20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For the Rome Bar Association</a:t>
            </a:r>
          </a:p>
          <a:p>
            <a:pPr>
              <a:spcBef>
                <a:spcPts val="600"/>
              </a:spcBef>
              <a:defRPr sz="1800">
                <a:solidFill>
                  <a:srgbClr val="9CA3AF"/>
                </a:solidFill>
                <a:latin typeface="Calibri"/>
              </a:defRPr>
            </a:pPr>
            <a:r>
              <a:t>A guided digitalization opportunity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106424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Customizable pilot package with OAL branding and dedicated knowledge base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12–18 minute live demo with realistic cases for members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On-premise at the Bar headquarters or dedicated GeneForge server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Role-based access: member lawyer, Bar secretariat, GeneForge admin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Basic training and Italian-speaking technical support included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Publishable case studies and testimonials from pilot firms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Studio Legale AI — Powered by GeneForge AI Labs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19/20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Let’s start the conversation</a:t>
            </a:r>
          </a:p>
          <a:p>
            <a:pPr>
              <a:spcBef>
                <a:spcPts val="600"/>
              </a:spcBef>
              <a:defRPr sz="1800">
                <a:solidFill>
                  <a:srgbClr val="9CA3AF"/>
                </a:solidFill>
                <a:latin typeface="Calibri"/>
              </a:defRPr>
            </a:pPr>
            <a:r>
              <a:t>Book a private demo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110642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📧 marco.saba@geneforge.eu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🌐 https://studio-legale.geneforge.eu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📖 https://github.com/geneforge-ai/manuals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💼 Base €500/month · Professional €1,000/month · Enterprise €2,500/month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🔒 No data ever leaves the firm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577840"/>
            <a:ext cx="1106424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F172A"/>
                </a:solidFill>
                <a:latin typeface="Calibri"/>
              </a:defRPr>
            </a:pPr>
            <a:r>
              <a:t>Request a personalized demo for your firm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Studio Legale AI — Powered by GeneForge AI Labs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20/20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