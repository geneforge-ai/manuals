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743200"/>
            <a:ext cx="1097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926080"/>
            <a:ext cx="110642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  <a:latin typeface="Calibri"/>
              </a:defRPr>
            </a:pPr>
            <a:r>
              <a:t>Studio Legale AI</a:t>
            </a:r>
          </a:p>
          <a:p>
            <a:pPr>
              <a:spcBef>
                <a:spcPts val="1000"/>
              </a:spcBef>
              <a:defRPr sz="2800">
                <a:solidFill>
                  <a:srgbClr val="9CA3AF"/>
                </a:solidFill>
                <a:latin typeface="Calibri"/>
              </a:defRPr>
            </a:pPr>
            <a:r>
              <a:t>L’intelligenza artificiale legale on-premise per gli avvocati del Lazio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000" b="0">
                <a:solidFill>
                  <a:srgbClr val="F59E0B"/>
                </a:solidFill>
                <a:latin typeface="Calibri"/>
              </a:defRPr>
            </a:pPr>
            <a:r>
              <a:t>Convention Ordine degli Avvocati del Lazio — Settembre 2026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Privacy by design · Sovranità dei dati · Verticalità italiana ed europea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1/20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Il problema dell’AI legale oggi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Perché gli avvocati italiani sono restii ad adottarla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63040"/>
            <a:ext cx="53035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❌ Il cloud legale tradizionale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 dati delle pratiche finiscono su server cloud di terzi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Difficile dimostrare il rispetto del segreto professionale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Strumenti frammentati: ricerca, drafting, gestionale, PEC, calendario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Soluzioni generiche, poco verticali sul diritto italiano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Costi per utente che crescono con il team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463040"/>
            <a:ext cx="5303520" cy="475488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✅ La risposta on-premise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Atti e fascicoli restano fisicamente nello studio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L’Ordine è titolare del trattamento, non il fornitore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Un unico ambiente per ricerca, drafting e gestione pratiche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Agenti specializzati su diritto italiano, europeo e Cassazione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Canone flat, non per utente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2/20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Studio Legale AI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Piattaforma full-stack per studi legali italiani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Hardware locale NVIDIA DGX Spark: 128 GB unified memory, GPU Blackwell, funzionamento anche offline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10 agenti AI specializzati per civile, penale, amministrativo, tributario, lavoro, europeo, Cassazione, pareri, atti e governance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Formulario italiano ed europeo con oltre 610 moduli pronti all’uso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Ricerca multi-motore su Normattiva, EUR-Lex, CURIA, CEDU, Dottrina, Giustizia Amministrativa e banche dati italiane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RAG locale per indicizzare fino a 100.000 documenti dello studio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Esportazione professionale in PDF, DOCX e Markdown con intestazione e protocollo automatici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Calcolatore forense per contributo unificato, interessi, onorari e spese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3/20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Hardware locale: NVIDIA DGX Spark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Un supercomputer AI nello studio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Specifiche tecniche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GPU NVIDIA GB10 Grace Blackwell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6.144 CUDA cores, 48 SM, compute sm_120/121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128 GB LPDDR5X unified memory (CPU+GPU)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4 TB NVMe SSD (opzione 8 TB)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Silenzioso: &lt; 35 dB in operazione normale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Setup plug &amp; play in 30 minuti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Sicurezza e conformità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Nessun dato in cloud per default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Crittografia disco LUKS AES-256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TLS 1.3 su tutte le comunicazioni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Audit log immutabile ed esportabile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Backup notturno su NAS locale (Enterprise)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Conforme GDPR, AI Act e segreto professionale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4/20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10 agenti AI specializzati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Ogni compito ha il suo esperto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⚖️ Avvocato Generico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Domande rapide e orientamento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📜 Analista Contrattuale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Analisi e revisione contratti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🔍 Ricercatore Giuridico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Normativa, giurisprudenza, dottrina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28600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🏛️ Ricercatore Cassazione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Verifica sentenze Corte di Cassazione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5468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📄 Documentalista Legale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Generazione di 11 tipi di atto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15468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📋 Segretaria Legale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Note, promemoria, solleciti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023359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📖 Parerista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Pareri legali strutturati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023359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🇪🇺 Specialista Europeo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Diritto dell’Unione Europea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9204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🛡️ Legal Validator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Controlli formali sugli atti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892040"/>
            <a:ext cx="5394960" cy="71323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600" b="1">
                <a:solidFill>
                  <a:srgbClr val="F59E0B"/>
                </a:solidFill>
                <a:latin typeface="Calibri"/>
              </a:defRPr>
            </a:pPr>
            <a:r>
              <a:t>🎯 Owner Orchestrator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Governance e advisory titolare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5/20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Gestione completa dello studio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Dalla dashboard al calendario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📊 Dashboard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Contatori in tempo reale, chat con Avvocato Generico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👥 Clienti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Anagrafica completa con avvertenze e pratiche collegate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📁 Pratiche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Stati, scadenze, documenti e filtri avanzati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📄 Documenti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Generazione guidata di 11 tipi di atto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🔍 Ricerca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7 motori di ricerca su fonti italiane ed europee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⚖️ Pareri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Risposte motivate con quesito, norma, analisi, rischi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2064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📅 Calendario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Udienze, termini, promemoria automatici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12064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F59E0B"/>
                </a:solidFill>
                <a:latin typeface="Calibri"/>
              </a:defRPr>
            </a:pPr>
            <a:r>
              <a:t>🧮 Calcolatore</a:t>
            </a:r>
          </a:p>
          <a:p>
            <a:pPr>
              <a:defRPr sz="1400">
                <a:solidFill>
                  <a:srgbClr val="FFFFFF"/>
                </a:solidFill>
                <a:latin typeface="Calibri"/>
              </a:defRPr>
            </a:pPr>
            <a:r>
              <a:t>Contributo unificato, interessi, onorari, spese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6/20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Generazione di documenti giuridici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Bozze professionali in 2–3 minuti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11 tipologie documento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Lettera formale e di messa in mora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Atto di citazione civile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Memoria difensiva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Ricorso amministrativo/tributario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Parere scritto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Contratto di assistenza legale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Qualità e controllo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Ricerca giuridica preliminare automatica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Verifica citazioni Cassazione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Intestazione, procura e firma pre-compilate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AI genera solo il corpo giuridico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Collegamento automatico a cliente e pratica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Protocollo automatico (es. 2026/001)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7/20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Formulario forense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610+ moduli pronti all’uso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Civile: citazioni, memorie, istanze, decreto ingiuntivo, opposizioni, appelli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Penale: querela, costituzione parte civile, istanze, ricorso in Cassazione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Amministrativo: ricorsi al TAR, osservazioni, memorie al Consiglio di Stato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Tributario: ricorsi alla Commissione, memorie, opposizioni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Lavoro: diffide, ricorsi, accordi, lettere di licenziamento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Europeo: 60 moduli per ricorsi CJEU, rinvii pregiudiziali, reclami infrazione, CEDU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Ogni modulo include note operative, riferimenti normativi e checklist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8/20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🇪🇺 Nuovo: ramo Diritto Europeo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Unico competitor italiano con specializzazione processuale 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Cosa include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60 moduli UE per ricorsi, rinvii, reclami infrazione, CEDU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4 tipologie documento UE (art. 263, 267, 258 TFUE, Parere UE)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Agente Specialista Europeo dedicato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Ricerca EUR-Lex, CURIA/CJEU, CEDU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Vantaggi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Tool CJEU rapidi: validazione causa, termini, scadenze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Validatore UE separato dai controlli italiani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Riferimenti a TFUE, TUE, CEDU dove appropriato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On-premise: nessun dato di pratica in cloud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9/20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Ricerca legale multi-motore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Fonti italiane ed europee in un’unica query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Normattiva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Leggi, decreti, regolamenti italiani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1732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Giustizia Amministrativa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Sentenze TAR e Consiglio di Stato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65176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CEDU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Corte Europea dei Diritti dell’Uomo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EUR-Lex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Direttive, regolamenti, decisioni UE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88620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CURIA / CJEU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Sentenze Corte di Giustizia 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8620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Dottrina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Articoli scientifici e riviste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120640"/>
            <a:ext cx="5394960" cy="1005840"/>
          </a:xfrm>
          <a:prstGeom prst="roundRect">
            <a:avLst/>
          </a:prstGeom>
          <a:solidFill>
            <a:srgbClr val="1E293B"/>
          </a:solidFill>
          <a:ln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700" b="1">
                <a:solidFill>
                  <a:srgbClr val="F59E0B"/>
                </a:solidFill>
                <a:latin typeface="Calibri"/>
              </a:defRPr>
            </a:pPr>
            <a:r>
              <a:t>🔍 Banche Dati Italiane</a:t>
            </a:r>
          </a:p>
          <a:p>
            <a:pPr>
              <a:defRPr sz="1300">
                <a:solidFill>
                  <a:srgbClr val="FFFFFF"/>
                </a:solidFill>
                <a:latin typeface="Calibri"/>
              </a:defRPr>
            </a:pPr>
            <a:r>
              <a:t>ItalgiureWeb Cassa Forense + placeholder editori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10/20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Connettori e integrazioni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Collega ciò che già usi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Banche dati italiane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ItalgiureWeb (Cassa Forense): attivo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De Jure, One Legale, Dike, Eurex, Juris Data: placeholder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Fallback a link rapidi se l’automazione fallisce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Gestionali e strumenti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AvvoDesk, LexDoctor, Legal360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iManage Work, NetDocuments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Clio Manage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PEC professionale e deposito telematico (placeholder)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Microsoft Word add-in (roadmap)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11/20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🧮 Calcolatore Forense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Calcoli giuridici rapidi e affidabili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Contributo unificato civile e amministrativo per primo grado, appello e Cassazione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Interessi legali, moratori e storici con tassi aggiornati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Onorario indicativo secondo i parametri D.M. 55/2014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Spese di giustizia: notifiche, perizie, consulenze tecniche, diritto di segreteria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Rivalutazione monetaria tramite coefficienti ISTAT FOI indicativi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Tutti gli importi sono indicativi e corredati di riferimenti normativi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12/20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Export professionale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PDF, DOCX e Markdown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PDF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Intestazione studio e avvocato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Procura ad litem per atti processuali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Firma in calce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Numero di protocollo automatico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DOCX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Font Times New Roman 12 pt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Stili Word nativi (Titolo 1, 2, 3)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Indice automatico aggiornabile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Tabelle, elenchi, metadati documento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13/20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Confronto con il mercato italiano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Perché scegliere l’on-premise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718457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Soluzione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Modello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Focus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Prezzo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Studio Legale AI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On-premise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Full-stack italiano/UE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€500–2.500 flat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Lexroom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Ricerca e redazione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~€80/utente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Simpliciter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Ricerca assistita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€19–39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Aptus.AI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Compliance/normativa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€199–1.040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AvvoDesk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Gestionale legale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 richiesta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Banche dati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Cloud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Giurisprudenza/editoria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€300–3.000+/anno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14/20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Vantaggi competitivi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Cosa nessun competitor cloud può offrire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Unica piattaforma legale on-premise completa in Italia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Diritto Europeo nativo e processuale: 60 moduli UE, ricerca EUR-Lex/CURIA/CEDU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Canone flat non per utente: più avvocati usano il sistema, più il costo si diluisce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Conformità by design: GDPR, AI Act, segreto professionale, audit log immutabile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Stack unificato: ricerca + drafting + RAG + gestione pratiche + calendario + email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Banche dati italiane integrate con fallback a link rapidi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10 agenti specializzati con temperature ottimizzate per compito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15/20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Pacchetti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Canone flat, nessun costo nascosto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37160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BASE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PROFESSIONAL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59E0B"/>
                          </a:solidFill>
                          <a:latin typeface="Calibri"/>
                        </a:defRPr>
                      </a:pPr>
                      <a:r>
                        <a:t>ENTERPRISE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Destinatario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Avvocato singolo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Studio 3–10 avv.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Studio/Network 10+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Agenti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 standard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 + 1 custom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7 + 3 custom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Documenti/mese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50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Illimitati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Ricerche Nemotron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20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100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Illimitate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Archivio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1.000 doc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Illimitato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Illimitato + sync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Supporto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Email 24h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Email+tel 8h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4h + account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Canone/mese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€ 500 + IVA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€ 1.000 + IVA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€ 2.500 + IVA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Setup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€ 990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€ 990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0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€ 1.990</a:t>
                      </a:r>
                    </a:p>
                  </a:txBody>
                  <a:tcPr anchor="ctr">
                    <a:solidFill>
                      <a:srgbClr val="1E29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16/20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ROI stimato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Investimento che si ripaga in 1–2 mesi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48640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Efficienza operativa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Risparmio redazione atti: 60–70%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Risparmio ricerche: 50–60%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Riduzione errori formali: 80%+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Tempo medio generazione atto: 2–3 minuti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1371600"/>
            <a:ext cx="5303520" cy="493776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l">
              <a:spcAft>
                <a:spcPts val="800"/>
              </a:spcAft>
              <a:defRPr sz="1800" b="1">
                <a:solidFill>
                  <a:srgbClr val="F59E0B"/>
                </a:solidFill>
                <a:latin typeface="Calibri"/>
              </a:defRPr>
            </a:pPr>
            <a:r>
              <a:t>Economicità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Costo orario avvocato medio: €150–250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Payback: 1–2 mesi per studio con 3+ avvocati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 5 utenti Pro: ~€100/utente/mese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 10 utenti Pro: ~€50/utente/mese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17/20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Roadmap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Cosa arriverà nei prossimi mesi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Q3 2026 — Add-in Microsoft Word per redigere atti direttamente in Word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Q3-Q4 2026 — Modulo PEC professionale e deposito telematico (PCT, UNEP)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Q4 2026 — Attivazione connettori banche dati editoriali (De Jure, One Legale, Dike)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Q4 2026 — Integrazioni gestionali (AvvoDesk, LexDoctor, Legal360, iManage, NetDocuments)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2027 — Voice assistant per segreteria telefonica e intake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Continuo — Aggiornamenti modelli, nuovi moduli formulario, espansione diritto europeo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18/20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Per l’Ordine degli Avvocati del Lazio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Un’opportunità di digitalizzazione guidata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502920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Pacchetto pilota personalizzabile con branding OAL e knowledge base dedicata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Demo live di 12–18 minuti con casi reali per gli iscritti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On-premise presso la sede dell’Ordine o server dedicato GeneForge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Ruoli differenziati: avvocato iscritto, segreteria Ordine, admin GeneForge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Formazione base inclusa e supporto tecnico in italiano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Possibilità di case study pubblicabili e testimonianze di studi pilota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19/20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Iniziamo la conversazione</a:t>
            </a:r>
          </a:p>
          <a:p>
            <a:pPr>
              <a:spcBef>
                <a:spcPts val="600"/>
              </a:spcBef>
              <a:defRPr sz="1800">
                <a:solidFill>
                  <a:srgbClr val="9CA3AF"/>
                </a:solidFill>
                <a:latin typeface="Calibri"/>
              </a:defRPr>
            </a:pPr>
            <a:r>
              <a:t>Prenota una demo riservata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11064240" cy="438912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137160" bIns="137160"/>
          <a:lstStyle/>
          <a:p>
            <a:pPr algn="ctr"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📧 marco.saba@geneforge.eu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🌐 https://studio-legale.geneforge.eu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📖 https://github.com/geneforge-ai/manuals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💼 Base €500/mese · Professional €1.000/mese · Enterprise €2.500/mese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• 🔒 Nessun dato lascia lo studio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5577840"/>
            <a:ext cx="11064240" cy="6400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F172A"/>
                </a:solidFill>
                <a:latin typeface="Calibri"/>
              </a:defRPr>
            </a:pPr>
            <a:r>
              <a:t>Richiedi una demo personalizzata per il tuo studio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100" b="0">
                <a:solidFill>
                  <a:srgbClr val="9CA3AF"/>
                </a:solidFill>
                <a:latin typeface="Calibri"/>
              </a:defRPr>
            </a:pPr>
            <a:r>
              <a:t>Studio Legale AI — Powered by GeneForge AI Labs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6400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100" b="0">
                <a:solidFill>
                  <a:srgbClr val="9CA3AF"/>
                </a:solidFill>
                <a:latin typeface="Calibri"/>
              </a:defRPr>
            </a:pPr>
            <a:r>
              <a:t>20/20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